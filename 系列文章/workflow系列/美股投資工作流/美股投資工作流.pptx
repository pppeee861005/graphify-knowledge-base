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991fc187eb4e49" /><Relationship Type="http://schemas.openxmlformats.org/officeDocument/2006/relationships/extended-properties" Target="/docProps/app.xml" Id="R3747b705e620461d" /><Relationship Type="http://schemas.openxmlformats.org/officeDocument/2006/relationships/officeDocument" Target="/ppt/presentation.xml" Id="R7db2c205b1c6414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31f3d5977454da6"/>
  </p:sldMasterIdLst>
  <p:notesMasterIdLst>
    <p:notesMasterId xmlns:r="http://schemas.openxmlformats.org/officeDocument/2006/relationships" r:id="R20efd2e838a04ac2"/>
  </p:notesMasterIdLst>
  <p:sldIdLst>
    <p:sldId xmlns:r="http://schemas.openxmlformats.org/officeDocument/2006/relationships" id="256" r:id="Rbd3526fbaa794bc0"/>
    <p:sldId xmlns:r="http://schemas.openxmlformats.org/officeDocument/2006/relationships" id="257" r:id="Ra36b966dac2a44f3"/>
    <p:sldId xmlns:r="http://schemas.openxmlformats.org/officeDocument/2006/relationships" id="258" r:id="Rae5cc8a2e12d4123"/>
    <p:sldId xmlns:r="http://schemas.openxmlformats.org/officeDocument/2006/relationships" id="259" r:id="Rb4fc5e54f88c42fc"/>
    <p:sldId xmlns:r="http://schemas.openxmlformats.org/officeDocument/2006/relationships" id="260" r:id="R284ff12cefa84660"/>
    <p:sldId xmlns:r="http://schemas.openxmlformats.org/officeDocument/2006/relationships" id="261" r:id="R1cc807ad61c24a12"/>
    <p:sldId xmlns:r="http://schemas.openxmlformats.org/officeDocument/2006/relationships" id="262" r:id="Raac3a3cdd3d54f4c"/>
  </p:sldIdLst>
  <p:sldSz cx="12192000" cy="6858000"/>
  <p:notesSz cx="6858000" cy="9144000"/>
  <p:embeddedFontLst>
    <p:embeddedFont>
      <p:font typeface="Lora"/>
      <p:regular xmlns:r="http://schemas.openxmlformats.org/officeDocument/2006/relationships" r:id="R2890c5205a29446b"/>
      <p:bold xmlns:r="http://schemas.openxmlformats.org/officeDocument/2006/relationships" r:id="Ra66a2228527b4ec3"/>
      <p:italic xmlns:r="http://schemas.openxmlformats.org/officeDocument/2006/relationships" r:id="R208d3963bd0b4885"/>
      <p:boldItalic xmlns:r="http://schemas.openxmlformats.org/officeDocument/2006/relationships" r:id="Raaaf3ceeb8ed4782"/>
    </p:embeddedFont>
    <p:embeddedFont>
      <p:font typeface="OpenAI Sans"/>
      <p:regular xmlns:r="http://schemas.openxmlformats.org/officeDocument/2006/relationships" r:id="R40719593bee748c8"/>
      <p:bold xmlns:r="http://schemas.openxmlformats.org/officeDocument/2006/relationships" r:id="R990ac93acd3b4ce2"/>
      <p:italic xmlns:r="http://schemas.openxmlformats.org/officeDocument/2006/relationships" r:id="Re360e026470c4427"/>
      <p:boldItalic xmlns:r="http://schemas.openxmlformats.org/officeDocument/2006/relationships" r:id="R1e45f1387221484d"/>
    </p:embeddedFont>
    <p:embeddedFont>
      <p:font typeface="Roboto"/>
      <p:regular xmlns:r="http://schemas.openxmlformats.org/officeDocument/2006/relationships" r:id="Rb3ea7c94323d4903"/>
      <p:bold xmlns:r="http://schemas.openxmlformats.org/officeDocument/2006/relationships" r:id="R17964e3341044cfe"/>
      <p:italic xmlns:r="http://schemas.openxmlformats.org/officeDocument/2006/relationships" r:id="Re85940d4d7624c9f"/>
      <p:boldItalic xmlns:r="http://schemas.openxmlformats.org/officeDocument/2006/relationships" r:id="R71f6b44f32c74806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1ec4aa8f4d4077" /><Relationship Type="http://schemas.openxmlformats.org/officeDocument/2006/relationships/slideMaster" Target="/ppt/slideMasters/slideMaster1.xml" Id="R531f3d5977454da6" /><Relationship Type="http://schemas.openxmlformats.org/officeDocument/2006/relationships/notesMaster" Target="/ppt/notesMasters/notesMaster1.xml" Id="R20efd2e838a04ac2" /><Relationship Type="http://schemas.openxmlformats.org/officeDocument/2006/relationships/presProps" Target="/ppt/presProps.xml" Id="R4b54e3ea87ea491b" /><Relationship Type="http://schemas.openxmlformats.org/officeDocument/2006/relationships/viewProps" Target="/ppt/viewProps.xml" Id="R8def8a570a5844ee" /><Relationship Type="http://schemas.openxmlformats.org/officeDocument/2006/relationships/tableStyles" Target="/ppt/tableStyles.xml" Id="R93ab2b530bc04664" /><Relationship Type="http://schemas.openxmlformats.org/officeDocument/2006/relationships/font" Target="/ppt/fonts/font.dat" Id="R2890c5205a29446b" /><Relationship Type="http://schemas.openxmlformats.org/officeDocument/2006/relationships/font" Target="/ppt/fonts/font2.dat" Id="Ra66a2228527b4ec3" /><Relationship Type="http://schemas.openxmlformats.org/officeDocument/2006/relationships/font" Target="/ppt/fonts/font3.dat" Id="R208d3963bd0b4885" /><Relationship Type="http://schemas.openxmlformats.org/officeDocument/2006/relationships/font" Target="/ppt/fonts/font4.dat" Id="Raaaf3ceeb8ed4782" /><Relationship Type="http://schemas.openxmlformats.org/officeDocument/2006/relationships/font" Target="/ppt/fonts/font5.dat" Id="R40719593bee748c8" /><Relationship Type="http://schemas.openxmlformats.org/officeDocument/2006/relationships/font" Target="/ppt/fonts/font6.dat" Id="R990ac93acd3b4ce2" /><Relationship Type="http://schemas.openxmlformats.org/officeDocument/2006/relationships/font" Target="/ppt/fonts/font7.dat" Id="Re360e026470c4427" /><Relationship Type="http://schemas.openxmlformats.org/officeDocument/2006/relationships/font" Target="/ppt/fonts/font8.dat" Id="R1e45f1387221484d" /><Relationship Type="http://schemas.openxmlformats.org/officeDocument/2006/relationships/font" Target="/ppt/fonts/font9.dat" Id="Rb3ea7c94323d4903" /><Relationship Type="http://schemas.openxmlformats.org/officeDocument/2006/relationships/font" Target="/ppt/fonts/font10.dat" Id="R17964e3341044cfe" /><Relationship Type="http://schemas.openxmlformats.org/officeDocument/2006/relationships/font" Target="/ppt/fonts/font11.dat" Id="Re85940d4d7624c9f" /><Relationship Type="http://schemas.openxmlformats.org/officeDocument/2006/relationships/font" Target="/ppt/fonts/font12.dat" Id="R71f6b44f32c74806" /><Relationship Type="http://schemas.openxmlformats.org/officeDocument/2006/relationships/slide" Target="/ppt/slides/slide1.xml" Id="Rbd3526fbaa794bc0" /><Relationship Type="http://schemas.openxmlformats.org/officeDocument/2006/relationships/slide" Target="/ppt/slides/slide2.xml" Id="Ra36b966dac2a44f3" /><Relationship Type="http://schemas.openxmlformats.org/officeDocument/2006/relationships/slide" Target="/ppt/slides/slide3.xml" Id="Rae5cc8a2e12d4123" /><Relationship Type="http://schemas.openxmlformats.org/officeDocument/2006/relationships/slide" Target="/ppt/slides/slide4.xml" Id="Rb4fc5e54f88c42fc" /><Relationship Type="http://schemas.openxmlformats.org/officeDocument/2006/relationships/slide" Target="/ppt/slides/slide5.xml" Id="R284ff12cefa84660" /><Relationship Type="http://schemas.openxmlformats.org/officeDocument/2006/relationships/slide" Target="/ppt/slides/slide6.xml" Id="R1cc807ad61c24a12" /><Relationship Type="http://schemas.openxmlformats.org/officeDocument/2006/relationships/slide" Target="/ppt/slides/slide7.xml" Id="Raac3a3cdd3d54f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8abea5caf84f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6adbec664464f" /><Relationship Type="http://schemas.openxmlformats.org/officeDocument/2006/relationships/notesMaster" Target="/ppt/notesMasters/notesMaster1.xml" Id="Re3576e38e5234e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b039914abc4b57" /><Relationship Type="http://schemas.openxmlformats.org/officeDocument/2006/relationships/notesMaster" Target="/ppt/notesMasters/notesMaster1.xml" Id="R55e98dea1b0b4c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e9967b3d9f441b" /><Relationship Type="http://schemas.openxmlformats.org/officeDocument/2006/relationships/notesMaster" Target="/ppt/notesMasters/notesMaster1.xml" Id="R2e7eb600db7449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ae20ca2eb7440e" /><Relationship Type="http://schemas.openxmlformats.org/officeDocument/2006/relationships/notesMaster" Target="/ppt/notesMasters/notesMaster1.xml" Id="R96e4e0f117b048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f3f7ce950b4dc6" /><Relationship Type="http://schemas.openxmlformats.org/officeDocument/2006/relationships/notesMaster" Target="/ppt/notesMasters/notesMaster1.xml" Id="Rf69e2a8590cf46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47cebef73a43c3" /><Relationship Type="http://schemas.openxmlformats.org/officeDocument/2006/relationships/notesMaster" Target="/ppt/notesMasters/notesMaster1.xml" Id="R8d9982284cd546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e9b360e3164287" /><Relationship Type="http://schemas.openxmlformats.org/officeDocument/2006/relationships/notesMaster" Target="/ppt/notesMasters/notesMaster1.xml" Id="Rd6c8f437d66446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05c114e1d42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dde8fe7fc4f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2c17798ad4e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cd65af7444c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ad087494c46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61920b8be465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82b627ae148e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3a42b6ce340d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5b9be1dbba453c" /><Relationship Type="http://schemas.openxmlformats.org/officeDocument/2006/relationships/slideLayout" Target="/ppt/slideLayouts/slideLayout1.xml" Id="R9b7307f539c64510" /><Relationship Type="http://schemas.openxmlformats.org/officeDocument/2006/relationships/slideLayout" Target="/ppt/slideLayouts/slideLayout2.xml" Id="R7d12e3f9fb9646e4" /><Relationship Type="http://schemas.openxmlformats.org/officeDocument/2006/relationships/slideLayout" Target="/ppt/slideLayouts/slideLayout3.xml" Id="Re4b046f80ae84d1a" /><Relationship Type="http://schemas.openxmlformats.org/officeDocument/2006/relationships/slideLayout" Target="/ppt/slideLayouts/slideLayout4.xml" Id="R26bcddc5c02f4524" /><Relationship Type="http://schemas.openxmlformats.org/officeDocument/2006/relationships/slideLayout" Target="/ppt/slideLayouts/slideLayout5.xml" Id="R3a3e77ba69b4449f" /><Relationship Type="http://schemas.openxmlformats.org/officeDocument/2006/relationships/slideLayout" Target="/ppt/slideLayouts/slideLayout6.xml" Id="R4aa1acaa84c04c72" /><Relationship Type="http://schemas.openxmlformats.org/officeDocument/2006/relationships/slideLayout" Target="/ppt/slideLayouts/slideLayout7.xml" Id="R8325722bf67643de" /><Relationship Type="http://schemas.openxmlformats.org/officeDocument/2006/relationships/slideLayout" Target="/ppt/slideLayouts/slideLayout8.xml" Id="R0387ddf89ea84ce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7307f539c64510"/>
    <p:sldLayoutId xmlns:r="http://schemas.openxmlformats.org/officeDocument/2006/relationships" id="2147483650" r:id="R7d12e3f9fb9646e4"/>
    <p:sldLayoutId xmlns:r="http://schemas.openxmlformats.org/officeDocument/2006/relationships" id="2147483651" r:id="Re4b046f80ae84d1a"/>
    <p:sldLayoutId xmlns:r="http://schemas.openxmlformats.org/officeDocument/2006/relationships" id="2147483652" r:id="R26bcddc5c02f4524"/>
    <p:sldLayoutId xmlns:r="http://schemas.openxmlformats.org/officeDocument/2006/relationships" id="2147483653" r:id="R3a3e77ba69b4449f"/>
    <p:sldLayoutId xmlns:r="http://schemas.openxmlformats.org/officeDocument/2006/relationships" id="2147483654" r:id="R4aa1acaa84c04c72"/>
    <p:sldLayoutId xmlns:r="http://schemas.openxmlformats.org/officeDocument/2006/relationships" id="2147483655" r:id="R8325722bf67643de"/>
    <p:sldLayoutId xmlns:r="http://schemas.openxmlformats.org/officeDocument/2006/relationships" id="2147483656" r:id="R0387ddf89ea84ced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ba01ad7e145f0" /><Relationship Type="http://schemas.openxmlformats.org/officeDocument/2006/relationships/notesSlide" Target="/ppt/notesSlides/notesSlide1.xml" Id="R8356c73544894c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1e64638e6e437b" /><Relationship Type="http://schemas.openxmlformats.org/officeDocument/2006/relationships/notesSlide" Target="/ppt/notesSlides/notesSlide2.xml" Id="Rbdc25ad1f63645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001f656fb4ee3" /><Relationship Type="http://schemas.openxmlformats.org/officeDocument/2006/relationships/notesSlide" Target="/ppt/notesSlides/notesSlide3.xml" Id="Rd494b50ffcc74a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5add98f1b49a3" /><Relationship Type="http://schemas.openxmlformats.org/officeDocument/2006/relationships/notesSlide" Target="/ppt/notesSlides/notesSlide4.xml" Id="R08e4ffa2bb5e4e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8850a29e724e52" /><Relationship Type="http://schemas.openxmlformats.org/officeDocument/2006/relationships/notesSlide" Target="/ppt/notesSlides/notesSlide5.xml" Id="R36a76a915bb041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7a36b32c843ca" /><Relationship Type="http://schemas.openxmlformats.org/officeDocument/2006/relationships/notesSlide" Target="/ppt/notesSlides/notesSlide6.xml" Id="R79e856939fdc42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0c8f55ba544b85" /><Relationship Type="http://schemas.openxmlformats.org/officeDocument/2006/relationships/notesSlide" Target="/ppt/notesSlides/notesSlide7.xml" Id="R3c6effa17cf54f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美股投資</a:t>
            </a:r>
          </a:p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工作流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讓 AI 搬運資料，讓投資者專注於二階思考與決策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AI 投資研究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美股投資工作流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投資研究的瓶頸</a:t>
            </a:r>
          </a:p>
          <a:p xmlns:a="http://schemas.openxmlformats.org/drawingml/2006/main">
            <a:pPr algn="ctr">
              <a:buNone/>
            </a:pPr>
            <a:r>
              <a:rPr sz="3600"/>
              <a:t>不是資訊不足，而是資料搬運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新聞、財報、逐字稿與社群訊號散落在不同工具裡。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傳統流程把時間消耗在搜尋、複製、整理與存檔；AI 工作流則把這些重複工作串成管線。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研究者因此能把注意力移回假設、矛盾、風險與決策。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核心問題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美股投資工作流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AI 改變的不是資訊量，而是研究時間的配置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傳統研究依賴手動搜尋與零散筆記，容易造成資訊過載。自動監測、來源整合與結構化存檔，讓研究者從資料搬運轉向判斷。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2 天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傳統方式研究一檔股票的時間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1.5 小時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AI 工作流的單檔研究目標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3 工具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偵察、消化與存檔形成完整閉環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美股投資工作流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三項工具各司其職，組成可追溯的研究系統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Gemini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即時監測新聞、社群情緒與市場異動；Gems 扮演專屬金融分析師，建立報告骨架。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Notion</a:t>
            </a:r>
          </a:p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結構化保存分析結果、投資假設與覆盤紀錄，逐步建立個人化投資資料庫。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NotebookLM</a:t>
            </a:r>
          </a:p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在封閉來源環境消化 10-K、10-Q 與法說會逐字稿，提供可點擊的精準引註。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工具不是彼此替代，而是分工協作：先擴大偵察範圍，再鎖定可信來源，最後把洞察沉澱成可覆盤的資產。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美股投資工作流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一條管線，把市場訊號轉成可執行決策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每一步都有明確輸入、輸出與責任工具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01  偵察 Scout｜Gemini Gems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Gemini 先擴大視野；NotebookLM 再把結論鎖回原始文件；Canvas 合成報告；五象限模型負責篩選；Notion 保存假設與後續覆盤。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02  消化 Digest｜NotebookLM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03  創作 Create｜Gemini Canvas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04  評分 Score｜五象限模型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05  存檔 Archive｜Notion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美股投資工作流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五象限評分，讓標的篩選不再只靠感覺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同一套尺度比較不同公司，迫使投資假設接受檢驗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成長性｜營收與需求能否延續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評分模型不是替代判斷，而是把判斷顯性化。每個象限都要留下依據、分數與反證，才能在價格與基本面變化後重新校準。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獲利性｜成長能否轉成現金與利潤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護城河｜優勢是否難以複製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估值水平｜價格是否透支預期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價格動能｜市場是否開始驗證敘事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美股投資工作流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把 AI 用在蒐集與整合</a:t>
            </a:r>
          </a:p>
          <a:p xmlns:a="http://schemas.openxmlformats.org/drawingml/2006/main">
            <a:pPr algn="ctr">
              <a:buNone/>
            </a:pPr>
            <a:r>
              <a:rPr sz="3600"/>
              <a:t>把最終判斷留給投資者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自動化能提高速度，但不能承擔投資責任。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每項結論都必須回到原始引註，每個分數都必須保留依據，每次決策都必須能在 Notion 中覆盤。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真正的效率，不是更快得到答案，而是更快看見自己可能錯在哪裡。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落地原則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2026-07-21T14:02:05.8380000Z</dcterms:created>
  <dcterms:modified xsi:type="dcterms:W3CDTF">2026-07-21T14:02:05.8380000Z</dcterms:modified>
</coreProperties>
</file>